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22BDFB-ECFC-4B64-8A61-EBD32C3CBA17}">
  <a:tblStyle styleId="{E822BDFB-ECFC-4B64-8A61-EBD32C3CBA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BD02171-B227-4CA5-AF1E-6B304A8C844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Italic.fntdata"/><Relationship Id="rId11" Type="http://schemas.openxmlformats.org/officeDocument/2006/relationships/slide" Target="slides/slide5.xml"/><Relationship Id="rId22" Type="http://schemas.openxmlformats.org/officeDocument/2006/relationships/font" Target="fonts/OpenSans-bold.fntdata"/><Relationship Id="rId10" Type="http://schemas.openxmlformats.org/officeDocument/2006/relationships/slide" Target="slides/slide4.xml"/><Relationship Id="rId21" Type="http://schemas.openxmlformats.org/officeDocument/2006/relationships/font" Target="fonts/OpenSans-regular.fntdata"/><Relationship Id="rId13" Type="http://schemas.openxmlformats.org/officeDocument/2006/relationships/font" Target="fonts/RobotoMonoLight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Light-italic.fntdata"/><Relationship Id="rId14" Type="http://schemas.openxmlformats.org/officeDocument/2006/relationships/font" Target="fonts/RobotoMonoLight-bold.fntdata"/><Relationship Id="rId17" Type="http://schemas.openxmlformats.org/officeDocument/2006/relationships/font" Target="fonts/OpenSansLight-regular.fntdata"/><Relationship Id="rId16" Type="http://schemas.openxmlformats.org/officeDocument/2006/relationships/font" Target="fonts/RobotoMonoLight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Ligh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018bbb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018bbb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Patterns in the better sleep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Jhonathan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  <p:sp>
        <p:nvSpPr>
          <p:cNvPr id="108" name="Google Shape;108;p13"/>
          <p:cNvSpPr/>
          <p:nvPr/>
        </p:nvSpPr>
        <p:spPr>
          <a:xfrm>
            <a:off x="191025" y="9493525"/>
            <a:ext cx="1645800" cy="705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91025" y="328825"/>
            <a:ext cx="5128800" cy="2096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7729950" y="0"/>
            <a:ext cx="10558200" cy="10287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3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6000"/>
              <a:t>Results on Sleep Health and Lifestyle Research</a:t>
            </a:r>
            <a:endParaRPr sz="6000"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29" l="0" r="0" t="39"/>
          <a:stretch/>
        </p:blipFill>
        <p:spPr>
          <a:xfrm>
            <a:off x="12285625" y="146950"/>
            <a:ext cx="5429225" cy="765647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sleep health and lifestyle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Typical Amount of Physical Activity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Number of Daily Steps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Distribution of Heart Rates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‘Age’ is an example of a continuous variable in the dataset.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‘Daily Steps’ is an example of an integer variable in the dataset.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‘BMI Category’ is an example of an ordinal categorical variable in the dataset.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‘Sleep Disorder’ is an example of a nominal categorical variable in the dataset.</a:t>
            </a:r>
            <a:endParaRPr>
              <a:solidFill>
                <a:srgbClr val="2D3D4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Typical Amount (Minutes) of Physical Activity</a:t>
            </a:r>
            <a:endParaRPr sz="6400"/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2135513" y="40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{E822BDFB-ECFC-4B64-8A61-EBD32C3CBA17}</a:tableStyleId>
              </a:tblPr>
              <a:tblGrid>
                <a:gridCol w="4672325"/>
                <a:gridCol w="4672325"/>
                <a:gridCol w="4672325"/>
              </a:tblGrid>
              <a:tr h="116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 u="sng">
                          <a:solidFill>
                            <a:schemeClr val="lt1"/>
                          </a:solidFill>
                        </a:rPr>
                        <a:t>MEAN</a:t>
                      </a:r>
                      <a:endParaRPr b="1" sz="24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 u="sng">
                          <a:solidFill>
                            <a:schemeClr val="lt1"/>
                          </a:solidFill>
                        </a:rPr>
                        <a:t>MEDIAN</a:t>
                      </a:r>
                      <a:endParaRPr b="1" sz="24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 u="sng">
                          <a:solidFill>
                            <a:schemeClr val="lt1"/>
                          </a:solidFill>
                        </a:rPr>
                        <a:t>MODE</a:t>
                      </a:r>
                      <a:endParaRPr b="1" sz="24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7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59.17112299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60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60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Analysis of Daily Steps Taken</a:t>
            </a:r>
            <a:endParaRPr sz="6400"/>
          </a:p>
        </p:txBody>
      </p:sp>
      <p:graphicFrame>
        <p:nvGraphicFramePr>
          <p:cNvPr id="136" name="Google Shape;136;p17"/>
          <p:cNvGraphicFramePr/>
          <p:nvPr/>
        </p:nvGraphicFramePr>
        <p:xfrm>
          <a:off x="3393400" y="175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{5BD02171-B227-4CA5-AF1E-6B304A8C844E}</a:tableStyleId>
              </a:tblPr>
              <a:tblGrid>
                <a:gridCol w="3953575"/>
                <a:gridCol w="4423575"/>
                <a:gridCol w="3124150"/>
              </a:tblGrid>
              <a:tr h="5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Mean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Median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Mode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6,816.84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7,000.00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MAX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MIN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RANGE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10,000.00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3,000.00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7,000.00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2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Sum of Squares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Standard Deviation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976,383,877.01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2,610,652.08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1,615.75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Q1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Q2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Q3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5,600.00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7,000.00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Distribution of Heart Rates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"/>
              <a:t>View of the Heart Rate Distribution</a:t>
            </a:r>
            <a:endParaRPr/>
          </a:p>
        </p:txBody>
      </p:sp>
      <p:pic>
        <p:nvPicPr>
          <p:cNvPr id="143" name="Google Shape;143;p1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2699100"/>
            <a:ext cx="9316500" cy="57591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8750" y="2699103"/>
            <a:ext cx="7113300" cy="5759100"/>
          </a:xfrm>
          <a:prstGeom prst="snip2DiagRect">
            <a:avLst>
              <a:gd fmla="val 10021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